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7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6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307"/>
    <p:restoredTop sz="94630"/>
  </p:normalViewPr>
  <p:slideViewPr>
    <p:cSldViewPr snapToGrid="0" snapToObjects="1">
      <p:cViewPr varScale="1">
        <p:scale>
          <a:sx n="72" d="100"/>
          <a:sy n="72" d="100"/>
        </p:scale>
        <p:origin x="232" y="10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144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2D2D2D"/>
                </a:solidFill>
                <a:latin typeface="Calibri"/>
              </a:defRPr>
            </a:pPr>
            <a:r>
              <a:t>Agent-Friendly</a:t>
            </a:r>
            <a:br/>
            <a:r>
              <a:t>Metaflow Client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B6B6B"/>
                </a:solidFill>
                <a:latin typeface="Calibri"/>
              </a:defRPr>
            </a:pPr>
            <a:r>
              <a:t>Analyzing and Addressing Client API Inefficiencies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Calibri"/>
              </a:defRPr>
            </a:pPr>
            <a:r>
              <a:rPr lang="it-IT" dirty="0"/>
              <a:t>Gennaro Francesco Landi - </a:t>
            </a:r>
            <a:r>
              <a:rPr lang="it-IT" dirty="0" err="1"/>
              <a:t>landigf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MSc Computer Science, ETH Zurich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GSoC 2026 Proposal | Mentor: Valay Dave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217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6B6B"/>
                </a:solidFill>
                <a:latin typeface="Calibri"/>
              </a:defRPr>
            </a:pPr>
            <a:r>
              <a:t>Outerbounds</a:t>
            </a:r>
          </a:p>
        </p:txBody>
      </p:sp>
      <p:pic>
        <p:nvPicPr>
          <p:cNvPr id="8" name="Metaflow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0"/>
            <a:ext cx="3200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Calibri"/>
              </a:defRPr>
            </a:pPr>
            <a:r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1691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B68AE"/>
                </a:solidFill>
                <a:latin typeface="Calibri"/>
              </a:defRPr>
            </a:pPr>
            <a:r>
              <a:rPr dirty="0"/>
              <a:t>01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577840" y="1828800"/>
            <a:ext cx="5943600" cy="0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577840" y="187451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Calibri"/>
              </a:defRPr>
            </a:pPr>
            <a:r>
              <a:rPr dirty="0"/>
              <a:t>The Problem: Why agents struggle with </a:t>
            </a:r>
            <a:r>
              <a:rPr dirty="0" err="1"/>
              <a:t>Metaflow</a:t>
            </a:r>
            <a:r>
              <a:rPr dirty="0"/>
              <a:t>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606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B68AE"/>
                </a:solidFill>
                <a:latin typeface="Calibri"/>
              </a:defRPr>
            </a:pPr>
            <a:r>
              <a:t>02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77840" y="2743200"/>
            <a:ext cx="5943600" cy="0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577840" y="27889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Calibri"/>
              </a:defRPr>
            </a:pPr>
            <a:r>
              <a:t>The Discovery: Infrastructure that already exists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520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B68AE"/>
                </a:solidFill>
                <a:latin typeface="Calibri"/>
              </a:defRPr>
            </a:pPr>
            <a:r>
              <a:t>03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77840" y="3657600"/>
            <a:ext cx="5943600" cy="0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577840" y="37033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Calibri"/>
              </a:defRPr>
            </a:pPr>
            <a:r>
              <a:t>The Benchmark: Three paths, same question, real numbers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4348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B68AE"/>
                </a:solidFill>
                <a:latin typeface="Calibri"/>
              </a:defRPr>
            </a:pPr>
            <a:r>
              <a:t>04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77840" y="4572000"/>
            <a:ext cx="5943600" cy="0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577840" y="46177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Calibri"/>
              </a:defRPr>
            </a:pPr>
            <a:r>
              <a:t>The Solution: What we're building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5349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B68AE"/>
                </a:solidFill>
                <a:latin typeface="Calibri"/>
              </a:defRPr>
            </a:pPr>
            <a:r>
              <a:t>05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77840" y="5486400"/>
            <a:ext cx="5943600" cy="0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577840" y="55321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Calibri"/>
              </a:defRPr>
            </a:pPr>
            <a:r>
              <a:t>GSoC Timeline: 350 hours, four phases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5603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D2D2D"/>
                </a:solidFill>
                <a:latin typeface="Calibri"/>
              </a:defRPr>
            </a:pPr>
            <a:r>
              <a:t>What happens when an agent</a:t>
            </a:r>
            <a:br/>
            <a:r>
              <a:t>asks a simple question?</a:t>
            </a:r>
          </a:p>
        </p:txBody>
      </p:sp>
      <p:pic>
        <p:nvPicPr>
          <p:cNvPr id="3" name="Wizard Da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914400"/>
            <a:ext cx="27432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B68AE"/>
                </a:solidFill>
                <a:latin typeface="Calibri"/>
              </a:rPr>
              <a:t>01</a:t>
            </a:r>
            <a:r>
              <a:rPr sz="1000" b="0">
                <a:solidFill>
                  <a:srgbClr val="9A9A9A"/>
                </a:solidFill>
                <a:latin typeface="Calibri"/>
              </a:rPr>
              <a:t>  The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2D2D"/>
                </a:solidFill>
                <a:latin typeface="Calibri"/>
              </a:defRPr>
            </a:pPr>
            <a:r>
              <a:t>The agent asks: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B68AE"/>
                </a:solidFill>
                <a:latin typeface="Calibri"/>
              </a:defRPr>
            </a:pPr>
            <a:r>
              <a:t>"Which tasks failed in my latest ForeachFlow run?"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Calibri"/>
              </a:defRPr>
            </a:pPr>
            <a:r>
              <a:t>What the Client API does: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5029200" cy="320040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0DCD4"/>
            </a:solidFill>
          </a:ln>
          <a:effectLst/>
        </p:spPr>
        <p:txBody>
          <a:bodyPr wrap="square" lIns="274320" tIns="182880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b="1" dirty="0">
                <a:solidFill>
                  <a:srgbClr val="7B68AE"/>
                </a:solidFill>
                <a:latin typeface="Courier New"/>
                <a:cs typeface="Courier New"/>
              </a:rPr>
              <a:t>for</a:t>
            </a: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step </a:t>
            </a:r>
            <a:r>
              <a:rPr lang="en-US" sz="1300" b="1" dirty="0">
                <a:solidFill>
                  <a:srgbClr val="7B68AE"/>
                </a:solidFill>
                <a:latin typeface="Courier New"/>
                <a:cs typeface="Courier New"/>
              </a:rPr>
              <a:t>in</a:t>
            </a: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run: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   </a:t>
            </a:r>
            <a:r>
              <a:rPr lang="en-US" sz="1300" b="1" dirty="0">
                <a:solidFill>
                  <a:srgbClr val="7B68AE"/>
                </a:solidFill>
                <a:latin typeface="Courier New"/>
                <a:cs typeface="Courier New"/>
              </a:rPr>
              <a:t>for</a:t>
            </a: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task </a:t>
            </a:r>
            <a:r>
              <a:rPr lang="en-US" sz="1300" b="1" dirty="0">
                <a:solidFill>
                  <a:srgbClr val="7B68AE"/>
                </a:solidFill>
                <a:latin typeface="Courier New"/>
                <a:cs typeface="Courier New"/>
              </a:rPr>
              <a:t>in</a:t>
            </a: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step: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       </a:t>
            </a:r>
            <a:r>
              <a:rPr lang="en-US" sz="1300" b="1" dirty="0">
                <a:solidFill>
                  <a:srgbClr val="7B68AE"/>
                </a:solidFill>
                <a:latin typeface="Courier New"/>
                <a:cs typeface="Courier New"/>
              </a:rPr>
              <a:t>if</a:t>
            </a: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</a:t>
            </a:r>
            <a:r>
              <a:rPr lang="en-US" sz="1300" b="1" dirty="0">
                <a:solidFill>
                  <a:srgbClr val="7B68AE"/>
                </a:solidFill>
                <a:latin typeface="Courier New"/>
                <a:cs typeface="Courier New"/>
              </a:rPr>
              <a:t>not</a:t>
            </a: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task.successful: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i="1" dirty="0">
                <a:solidFill>
                  <a:srgbClr val="4AA86B"/>
                </a:solidFill>
                <a:latin typeface="Courier New"/>
                <a:cs typeface="Courier New"/>
              </a:rPr>
              <a:t>            # Inside task.successful: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i="1" dirty="0">
                <a:solidFill>
                  <a:srgbClr val="4AA86B"/>
                </a:solidFill>
                <a:latin typeface="Courier New"/>
                <a:cs typeface="Courier New"/>
              </a:rPr>
              <a:t>            # 1. HTTP GET /artifacts/_success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i="1" dirty="0">
                <a:solidFill>
                  <a:srgbClr val="4AA86B"/>
                </a:solidFill>
                <a:latin typeface="Courier New"/>
                <a:cs typeface="Courier New"/>
              </a:rPr>
              <a:t>            # 2. Read boolean from S3/local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i="1" dirty="0">
                <a:solidFill>
                  <a:srgbClr val="4AA86B"/>
                </a:solidFill>
                <a:latin typeface="Courier New"/>
                <a:cs typeface="Courier New"/>
              </a:rPr>
              <a:t>            # 3. Unpickle Python object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i="1" dirty="0">
                <a:solidFill>
                  <a:srgbClr val="4AA86B"/>
                </a:solidFill>
                <a:latin typeface="Courier New"/>
                <a:cs typeface="Courier New"/>
              </a:rPr>
              <a:t>            # 4. Return True/False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i="1" dirty="0">
                <a:solidFill>
                  <a:srgbClr val="4AA86B"/>
                </a:solidFill>
                <a:latin typeface="Courier New"/>
                <a:cs typeface="Courier New"/>
              </a:rPr>
              <a:t>            #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i="1" dirty="0">
                <a:solidFill>
                  <a:srgbClr val="4AA86B"/>
                </a:solidFill>
                <a:latin typeface="Courier New"/>
                <a:cs typeface="Courier New"/>
              </a:rPr>
              <a:t>            # PER TASK. 50 tasks = 50x this.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Calibri"/>
              </a:defRPr>
            </a:pPr>
            <a:r>
              <a:t>The cost: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9260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E85757"/>
                </a:solidFill>
                <a:latin typeface="Calibri"/>
              </a:defRPr>
            </a:pPr>
            <a: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B6B6B"/>
                </a:solidFill>
                <a:latin typeface="Calibri"/>
              </a:defRPr>
            </a:pPr>
            <a:r>
              <a:t>HTTP calls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9319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E85757"/>
                </a:solidFill>
                <a:latin typeface="Calibri"/>
              </a:defRPr>
            </a:pPr>
            <a:r>
              <a:t>3.8s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B6B6B"/>
                </a:solidFill>
                <a:latin typeface="Calibri"/>
              </a:defRPr>
            </a:pPr>
            <a:r>
              <a:t>wall-clock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5029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E85757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6B"/>
                </a:solidFill>
                <a:latin typeface="Calibri"/>
              </a:defRPr>
            </a:pPr>
            <a:r>
              <a:t>datastore reads</a:t>
            </a:r>
            <a:br/>
            <a:r>
              <a:t>to unpickle 50 booleans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3093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B68AE"/>
                </a:solidFill>
                <a:latin typeface="Calibri"/>
              </a:rPr>
              <a:t>01</a:t>
            </a:r>
            <a:r>
              <a:rPr sz="1000" b="0">
                <a:solidFill>
                  <a:srgbClr val="9A9A9A"/>
                </a:solidFill>
                <a:latin typeface="Calibri"/>
              </a:rPr>
              <a:t>  The Problem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Calibri"/>
              </a:defRPr>
            </a:pPr>
            <a:r>
              <a:t>Real proof: we asked Claude Sonnet via the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Calibri"/>
              </a:defRPr>
            </a:pPr>
            <a:r>
              <a:t>"Which tasks failed in my latest ForeachFlow run?"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743200" cy="365760"/>
          </a:xfrm>
          <a:prstGeom prst="roundRect">
            <a:avLst/>
          </a:prstGeom>
          <a:solidFill>
            <a:srgbClr val="7B6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What Claude wrote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6B"/>
                </a:solidFill>
                <a:latin typeface="Calibri"/>
              </a:defRPr>
            </a:pPr>
            <a:r>
              <a:t>claude-sonnet-4-20250514  |  132 in / 66 out 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A86B"/>
                </a:solidFill>
                <a:latin typeface="Calibri"/>
              </a:defRPr>
            </a:pPr>
            <a:r>
              <a:t>Correct answer: ForeachFlow/8/process/126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2743200" cy="36576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What it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4D4D"/>
                </a:solidFill>
                <a:latin typeface="Calibri"/>
              </a:defRPr>
            </a:pPr>
            <a:r>
              <a:t>57 HTTP calls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Calibri"/>
              </a:defRPr>
            </a:pPr>
            <a:r>
              <a:t>2,074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Calibri"/>
              </a:defRPr>
            </a:pPr>
            <a:r>
              <a:t>51 artifact fetches (one _success per task)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66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Calibri"/>
              </a:defRPr>
            </a:pPr>
            <a:r>
              <a:t>With filter_tasks_by_metadata: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A86B"/>
                </a:solidFill>
                <a:latin typeface="Calibri"/>
              </a:defRPr>
            </a:pPr>
            <a:r>
              <a:t>4 HTTP calls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A86B"/>
                </a:solidFill>
                <a:latin typeface="Calibri"/>
              </a:defRPr>
            </a:pPr>
            <a:r>
              <a:t>Same answer. Same database.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120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  <a:latin typeface="Calibri"/>
              </a:defRPr>
            </a:pPr>
            <a:r>
              <a:t>This is not Claude being inefficient. This is the only way to check task success with the current API.</a:t>
            </a:r>
            <a:br/>
            <a:r>
              <a:t>There is no run.failed_tasks(). Full HTTP trace in claude_api_trace.json.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3093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dirty="0">
                <a:solidFill>
                  <a:srgbClr val="7B68AE"/>
                </a:solidFill>
                <a:latin typeface="Calibri"/>
              </a:rPr>
              <a:t>01</a:t>
            </a:r>
            <a:r>
              <a:rPr sz="1000" b="0" dirty="0">
                <a:solidFill>
                  <a:srgbClr val="9A9A9A"/>
                </a:solidFill>
                <a:latin typeface="Calibri"/>
              </a:rPr>
              <a:t>  The Problem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286000"/>
            <a:ext cx="5029200" cy="192024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0DCD4"/>
            </a:solidFill>
          </a:ln>
        </p:spPr>
        <p:txBody>
          <a:bodyPr wrap="square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7B68AE"/>
                </a:solidFill>
                <a:latin typeface="Courier New"/>
                <a:cs typeface="Courier New"/>
              </a:rPr>
              <a:t>from</a:t>
            </a:r>
            <a:r>
              <a:rPr lang="en-US" sz="1200" dirty="0">
                <a:solidFill>
                  <a:srgbClr val="2D2D2D"/>
                </a:solidFill>
                <a:latin typeface="Courier New"/>
                <a:cs typeface="Courier New"/>
              </a:rPr>
              <a:t> metaflow </a:t>
            </a:r>
            <a:r>
              <a:rPr lang="en-US" sz="1200" b="1" dirty="0">
                <a:solidFill>
                  <a:srgbClr val="7B68AE"/>
                </a:solidFill>
                <a:latin typeface="Courier New"/>
                <a:cs typeface="Courier New"/>
              </a:rPr>
              <a:t>import</a:t>
            </a:r>
            <a:r>
              <a:rPr lang="en-US" sz="1200" dirty="0">
                <a:solidFill>
                  <a:srgbClr val="2D2D2D"/>
                </a:solidFill>
                <a:latin typeface="Courier New"/>
                <a:cs typeface="Courier New"/>
              </a:rPr>
              <a:t> </a:t>
            </a:r>
            <a:r>
              <a:rPr lang="en-US" sz="1200" dirty="0">
                <a:solidFill>
                  <a:srgbClr val="2D8CC9"/>
                </a:solidFill>
                <a:latin typeface="Courier New"/>
                <a:cs typeface="Courier New"/>
              </a:rPr>
              <a:t>Flow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2D2D2D"/>
                </a:solidFill>
                <a:latin typeface="Courier New"/>
                <a:cs typeface="Courier New"/>
              </a:rPr>
              <a:t>flow = </a:t>
            </a:r>
            <a:r>
              <a:rPr lang="en-US" sz="1200" dirty="0">
                <a:solidFill>
                  <a:srgbClr val="2D8CC9"/>
                </a:solidFill>
                <a:latin typeface="Courier New"/>
                <a:cs typeface="Courier New"/>
              </a:rPr>
              <a:t>Flow</a:t>
            </a:r>
            <a:r>
              <a:rPr lang="en-US" sz="1200" dirty="0">
                <a:solidFill>
                  <a:srgbClr val="2D2D2D"/>
                </a:solidFill>
                <a:latin typeface="Courier New"/>
                <a:cs typeface="Courier New"/>
              </a:rPr>
              <a:t>('ForeachFlow</a:t>
            </a:r>
            <a:r>
              <a:rPr lang="en-US" sz="1200" dirty="0">
                <a:solidFill>
                  <a:srgbClr val="4AA86B"/>
                </a:solidFill>
                <a:latin typeface="Courier New"/>
                <a:cs typeface="Courier New"/>
              </a:rPr>
              <a:t>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2D2D2D"/>
                </a:solidFill>
                <a:latin typeface="Courier New"/>
                <a:cs typeface="Courier New"/>
              </a:rPr>
              <a:t>latest_run = flow.latest_run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7B68AE"/>
                </a:solidFill>
                <a:latin typeface="Courier New"/>
                <a:cs typeface="Courier New"/>
              </a:rPr>
              <a:t>for</a:t>
            </a:r>
            <a:r>
              <a:rPr lang="en-US" sz="1200" dirty="0">
                <a:solidFill>
                  <a:srgbClr val="2D2D2D"/>
                </a:solidFill>
                <a:latin typeface="Courier New"/>
                <a:cs typeface="Courier New"/>
              </a:rPr>
              <a:t> step </a:t>
            </a:r>
            <a:r>
              <a:rPr lang="en-US" sz="1200" b="1" dirty="0">
                <a:solidFill>
                  <a:srgbClr val="7B68AE"/>
                </a:solidFill>
                <a:latin typeface="Courier New"/>
                <a:cs typeface="Courier New"/>
              </a:rPr>
              <a:t>in</a:t>
            </a:r>
            <a:r>
              <a:rPr lang="en-US" sz="1200" dirty="0">
                <a:solidFill>
                  <a:srgbClr val="2D2D2D"/>
                </a:solidFill>
                <a:latin typeface="Courier New"/>
                <a:cs typeface="Courier New"/>
              </a:rPr>
              <a:t> latest_run: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2D2D2D"/>
                </a:solidFill>
                <a:latin typeface="Courier New"/>
                <a:cs typeface="Courier New"/>
              </a:rPr>
              <a:t>    </a:t>
            </a:r>
            <a:r>
              <a:rPr lang="en-US" sz="1200" b="1" dirty="0">
                <a:solidFill>
                  <a:srgbClr val="7B68AE"/>
                </a:solidFill>
                <a:latin typeface="Courier New"/>
                <a:cs typeface="Courier New"/>
              </a:rPr>
              <a:t>for</a:t>
            </a:r>
            <a:r>
              <a:rPr lang="en-US" sz="1200" dirty="0">
                <a:solidFill>
                  <a:srgbClr val="2D2D2D"/>
                </a:solidFill>
                <a:latin typeface="Courier New"/>
                <a:cs typeface="Courier New"/>
              </a:rPr>
              <a:t> task </a:t>
            </a:r>
            <a:r>
              <a:rPr lang="en-US" sz="1200" b="1" dirty="0">
                <a:solidFill>
                  <a:srgbClr val="7B68AE"/>
                </a:solidFill>
                <a:latin typeface="Courier New"/>
                <a:cs typeface="Courier New"/>
              </a:rPr>
              <a:t>in</a:t>
            </a:r>
            <a:r>
              <a:rPr lang="en-US" sz="1200" dirty="0">
                <a:solidFill>
                  <a:srgbClr val="2D2D2D"/>
                </a:solidFill>
                <a:latin typeface="Courier New"/>
                <a:cs typeface="Courier New"/>
              </a:rPr>
              <a:t> step: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2D2D2D"/>
                </a:solidFill>
                <a:latin typeface="Courier New"/>
                <a:cs typeface="Courier New"/>
              </a:rPr>
              <a:t>        </a:t>
            </a:r>
            <a:r>
              <a:rPr lang="en-US" sz="1200" b="1" dirty="0">
                <a:solidFill>
                  <a:srgbClr val="7B68AE"/>
                </a:solidFill>
                <a:latin typeface="Courier New"/>
                <a:cs typeface="Courier New"/>
              </a:rPr>
              <a:t>if</a:t>
            </a:r>
            <a:r>
              <a:rPr lang="en-US" sz="1200" dirty="0">
                <a:solidFill>
                  <a:srgbClr val="2D2D2D"/>
                </a:solidFill>
                <a:latin typeface="Courier New"/>
                <a:cs typeface="Courier New"/>
              </a:rPr>
              <a:t> </a:t>
            </a:r>
            <a:r>
              <a:rPr lang="en-US" sz="1200" b="1" dirty="0">
                <a:solidFill>
                  <a:srgbClr val="7B68AE"/>
                </a:solidFill>
                <a:latin typeface="Courier New"/>
                <a:cs typeface="Courier New"/>
              </a:rPr>
              <a:t>not</a:t>
            </a:r>
            <a:r>
              <a:rPr lang="en-US" sz="1200" dirty="0">
                <a:solidFill>
                  <a:srgbClr val="2D2D2D"/>
                </a:solidFill>
                <a:latin typeface="Courier New"/>
                <a:cs typeface="Courier New"/>
              </a:rPr>
              <a:t> task.successful: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2D2D2D"/>
                </a:solidFill>
                <a:latin typeface="Courier New"/>
                <a:cs typeface="Courier New"/>
              </a:rPr>
              <a:t>            </a:t>
            </a:r>
            <a:r>
              <a:rPr lang="en-US" sz="1200" dirty="0">
                <a:solidFill>
                  <a:srgbClr val="2D8CC9"/>
                </a:solidFill>
                <a:latin typeface="Courier New"/>
                <a:cs typeface="Courier New"/>
              </a:rPr>
              <a:t>print</a:t>
            </a:r>
            <a:r>
              <a:rPr lang="en-US" sz="1200" dirty="0">
                <a:solidFill>
                  <a:srgbClr val="2D2D2D"/>
                </a:solidFill>
                <a:latin typeface="Courier New"/>
                <a:cs typeface="Courier New"/>
              </a:rPr>
              <a:t>(task.pathspec)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Calibri"/>
              </a:defRPr>
            </a:pPr>
            <a:r>
              <a:t>Two services, same database, different capabilities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1371600"/>
            <a:ext cx="5486400" cy="731520"/>
          </a:xfrm>
          <a:prstGeom prst="rect">
            <a:avLst/>
          </a:prstGeom>
          <a:solidFill>
            <a:srgbClr val="7B6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0" y="1417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743200"/>
            <a:ext cx="3657600" cy="2286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54480" y="2834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Metadata Service (port 8080)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29184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6B6B6B"/>
                </a:solidFill>
                <a:latin typeface="Calibri"/>
              </a:defRPr>
            </a:pPr>
            <a:r>
              <a:t>Every deployment has this</a:t>
            </a:r>
          </a:p>
          <a:p>
            <a:pPr>
              <a:spcAft>
                <a:spcPts val="650"/>
              </a:spcAft>
              <a:defRPr sz="1300">
                <a:solidFill>
                  <a:srgbClr val="6B6B6B"/>
                </a:solidFill>
                <a:latin typeface="Calibri"/>
              </a:defRPr>
            </a:pPr>
            <a:endParaRPr/>
          </a:p>
          <a:p>
            <a:pPr>
              <a:spcAft>
                <a:spcPts val="650"/>
              </a:spcAft>
              <a:defRPr sz="1300">
                <a:solidFill>
                  <a:srgbClr val="6B6B6B"/>
                </a:solidFill>
                <a:latin typeface="Calibri"/>
              </a:defRPr>
            </a:pPr>
            <a:r>
              <a:t>No pagination</a:t>
            </a:r>
          </a:p>
          <a:p>
            <a:pPr>
              <a:spcAft>
                <a:spcPts val="650"/>
              </a:spcAft>
              <a:defRPr sz="1300">
                <a:solidFill>
                  <a:srgbClr val="6B6B6B"/>
                </a:solidFill>
                <a:latin typeface="Calibri"/>
              </a:defRPr>
            </a:pPr>
            <a:r>
              <a:t>No filtering</a:t>
            </a:r>
          </a:p>
          <a:p>
            <a:pPr>
              <a:spcAft>
                <a:spcPts val="650"/>
              </a:spcAft>
              <a:defRPr sz="1300">
                <a:solidFill>
                  <a:srgbClr val="6B6B6B"/>
                </a:solidFill>
                <a:latin typeface="Calibri"/>
              </a:defRPr>
            </a:pPr>
            <a:r>
              <a:t>No status field</a:t>
            </a:r>
          </a:p>
          <a:p>
            <a:pPr>
              <a:spcAft>
                <a:spcPts val="650"/>
              </a:spcAft>
              <a:defRPr sz="1300">
                <a:solidFill>
                  <a:srgbClr val="6B6B6B"/>
                </a:solidFill>
                <a:latin typeface="Calibri"/>
              </a:defRPr>
            </a:pPr>
            <a:r>
              <a:t>Returns ALL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2743200"/>
            <a:ext cx="3657600" cy="2286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0" y="2834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Calibri"/>
              </a:defRPr>
            </a:pPr>
            <a:r>
              <a:t>UI Backend (port 8083)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3291840"/>
            <a:ext cx="3291840" cy="1828800"/>
          </a:xfrm>
          <a:prstGeom prst="rect">
            <a:avLst/>
          </a:prstGeom>
          <a:solidFill>
            <a:srgbClr val="FAF8F5"/>
          </a:solidFill>
          <a:ln w="12700">
            <a:solidFill>
              <a:srgbClr val="E0DCD4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4AA86B"/>
                </a:solidFill>
                <a:latin typeface="Calibri"/>
              </a:defRPr>
            </a:pPr>
            <a:r>
              <a:t>Optional, for Web UI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303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2D2D"/>
                </a:solidFill>
                <a:latin typeface="Calibri"/>
              </a:defRPr>
            </a:pPr>
            <a:r>
              <a:t>Python Client API</a:t>
            </a:r>
            <a:br/>
            <a:r>
              <a:t>(what agents use today)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5303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2D2D"/>
                </a:solidFill>
                <a:latin typeface="Calibri"/>
              </a:defRPr>
            </a:pPr>
            <a:r>
              <a:t>Metaflow Web UI</a:t>
            </a:r>
            <a:br/>
            <a:r>
              <a:t>(what humans see)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61264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85757"/>
                </a:solidFill>
                <a:latin typeface="Calibri"/>
              </a:defRPr>
            </a:pPr>
            <a:r>
              <a:t>The Client API only talks to the Metadata Service. It has no idea the UI Backend exists.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9AFB8D-EBD6-32CE-141F-03D5FBBD245E}"/>
              </a:ext>
            </a:extLst>
          </p:cNvPr>
          <p:cNvSpPr txBox="1"/>
          <p:nvPr/>
        </p:nvSpPr>
        <p:spPr>
          <a:xfrm>
            <a:off x="365760" y="63093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dirty="0">
                <a:solidFill>
                  <a:srgbClr val="7B68AE"/>
                </a:solidFill>
                <a:latin typeface="Calibri"/>
              </a:rPr>
              <a:t>01</a:t>
            </a:r>
            <a:r>
              <a:rPr sz="1000" b="0" dirty="0">
                <a:solidFill>
                  <a:srgbClr val="9A9A9A"/>
                </a:solidFill>
                <a:latin typeface="Calibri"/>
              </a:rPr>
              <a:t>  The Problem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5603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D2D2D"/>
                </a:solidFill>
                <a:latin typeface="Calibri"/>
              </a:defRPr>
            </a:pPr>
            <a:r>
              <a:t>Three discoveries that</a:t>
            </a:r>
            <a:br/>
            <a:r>
              <a:t>change everything</a:t>
            </a:r>
          </a:p>
        </p:txBody>
      </p:sp>
      <p:pic>
        <p:nvPicPr>
          <p:cNvPr id="3" name="Wizard Ligh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17" y="1371600"/>
            <a:ext cx="365760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B68AE"/>
                </a:solidFill>
                <a:latin typeface="Calibri"/>
              </a:rPr>
              <a:t>02</a:t>
            </a:r>
            <a:r>
              <a:rPr sz="1000" b="0">
                <a:solidFill>
                  <a:srgbClr val="9A9A9A"/>
                </a:solidFill>
                <a:latin typeface="Calibri"/>
              </a:rPr>
              <a:t>  The Discovery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548640"/>
            <a:ext cx="2286000" cy="411480"/>
          </a:xfrm>
          <a:prstGeom prst="roundRect">
            <a:avLst/>
          </a:prstGeom>
          <a:solidFill>
            <a:srgbClr val="7B6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Discovery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filter_tasks_by_metadata already finds 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Calibri"/>
              </a:defRPr>
            </a:pPr>
            <a:r>
              <a:t>Since metadata service v2.5.0, this endpoint exists but nobody uses it for failure detection: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10058400" cy="182880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0DCD4"/>
            </a:solidFill>
          </a:ln>
          <a:effectLst/>
        </p:spPr>
        <p:txBody>
          <a:bodyPr wrap="square" lIns="274320" tIns="182880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500" i="1" dirty="0">
                <a:solidFill>
                  <a:srgbClr val="4AA86B"/>
                </a:solidFill>
                <a:latin typeface="Courier New"/>
                <a:cs typeface="Courier New"/>
              </a:rPr>
              <a:t># ONE HTTP call. Returns all failed task IDs.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500" dirty="0">
                <a:solidFill>
                  <a:srgbClr val="2D8CC9"/>
                </a:solidFill>
                <a:latin typeface="Courier New"/>
                <a:cs typeface="Courier New"/>
              </a:rPr>
              <a:t>ServiceMetadataProvider</a:t>
            </a:r>
            <a:r>
              <a:rPr lang="en-US" sz="1500" dirty="0">
                <a:solidFill>
                  <a:srgbClr val="2D2D2D"/>
                </a:solidFill>
                <a:latin typeface="Courier New"/>
                <a:cs typeface="Courier New"/>
              </a:rPr>
              <a:t>.</a:t>
            </a:r>
            <a:r>
              <a:rPr lang="en-US" sz="1500" dirty="0">
                <a:solidFill>
                  <a:srgbClr val="2D8CC9"/>
                </a:solidFill>
                <a:latin typeface="Courier New"/>
                <a:cs typeface="Courier New"/>
              </a:rPr>
              <a:t>filter_tasks_by_metadata</a:t>
            </a:r>
            <a:r>
              <a:rPr lang="en-US" sz="1500" dirty="0">
                <a:solidFill>
                  <a:srgbClr val="2D2D2D"/>
                </a:solidFill>
                <a:latin typeface="Courier New"/>
                <a:cs typeface="Courier New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500" dirty="0">
                <a:solidFill>
                  <a:srgbClr val="2D2D2D"/>
                </a:solidFill>
                <a:latin typeface="Courier New"/>
                <a:cs typeface="Courier New"/>
              </a:rPr>
              <a:t>    </a:t>
            </a:r>
            <a:r>
              <a:rPr lang="en-US" sz="1500" dirty="0">
                <a:solidFill>
                  <a:srgbClr val="4AA86B"/>
                </a:solidFill>
                <a:latin typeface="Courier New"/>
                <a:cs typeface="Courier New"/>
              </a:rPr>
              <a:t>"ForeachFlow"</a:t>
            </a:r>
            <a:r>
              <a:rPr lang="en-US" sz="1500" dirty="0">
                <a:solidFill>
                  <a:srgbClr val="2D2D2D"/>
                </a:solidFill>
                <a:latin typeface="Courier New"/>
                <a:cs typeface="Courier New"/>
              </a:rPr>
              <a:t>, </a:t>
            </a:r>
            <a:r>
              <a:rPr lang="en-US" sz="1500" dirty="0">
                <a:solidFill>
                  <a:srgbClr val="4AA86B"/>
                </a:solidFill>
                <a:latin typeface="Courier New"/>
                <a:cs typeface="Courier New"/>
              </a:rPr>
              <a:t>"8"</a:t>
            </a:r>
            <a:r>
              <a:rPr lang="en-US" sz="1500" dirty="0">
                <a:solidFill>
                  <a:srgbClr val="2D2D2D"/>
                </a:solidFill>
                <a:latin typeface="Courier New"/>
                <a:cs typeface="Courier New"/>
              </a:rPr>
              <a:t>, </a:t>
            </a:r>
            <a:r>
              <a:rPr lang="en-US" sz="1500" dirty="0">
                <a:solidFill>
                  <a:srgbClr val="4AA86B"/>
                </a:solidFill>
                <a:latin typeface="Courier New"/>
                <a:cs typeface="Courier New"/>
              </a:rPr>
              <a:t>"process"</a:t>
            </a:r>
            <a:r>
              <a:rPr lang="en-US" sz="1500" dirty="0">
                <a:solidFill>
                  <a:srgbClr val="2D2D2D"/>
                </a:solidFill>
                <a:latin typeface="Courier New"/>
                <a:cs typeface="Courier New"/>
              </a:rPr>
              <a:t>, </a:t>
            </a:r>
            <a:r>
              <a:rPr lang="en-US" sz="1500" dirty="0">
                <a:solidFill>
                  <a:srgbClr val="4AA86B"/>
                </a:solidFill>
                <a:latin typeface="Courier New"/>
                <a:cs typeface="Courier New"/>
              </a:rPr>
              <a:t>"attempt_ok"</a:t>
            </a:r>
            <a:r>
              <a:rPr lang="en-US" sz="1500" dirty="0">
                <a:solidFill>
                  <a:srgbClr val="2D2D2D"/>
                </a:solidFill>
                <a:latin typeface="Courier New"/>
                <a:cs typeface="Courier New"/>
              </a:rPr>
              <a:t>, </a:t>
            </a:r>
            <a:r>
              <a:rPr lang="en-US" sz="1500" dirty="0">
                <a:solidFill>
                  <a:srgbClr val="4AA86B"/>
                </a:solidFill>
                <a:latin typeface="Courier New"/>
                <a:cs typeface="Courier New"/>
              </a:rPr>
              <a:t>"False"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500" dirty="0">
                <a:solidFill>
                  <a:srgbClr val="2D2D2D"/>
                </a:solidFill>
                <a:latin typeface="Courier New"/>
                <a:cs typeface="Courier New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500" i="1" dirty="0">
                <a:solidFill>
                  <a:srgbClr val="4AA86B"/>
                </a:solidFill>
                <a:latin typeface="Courier New"/>
                <a:cs typeface="Courier New"/>
              </a:rPr>
              <a:t># --&gt; ["ForeachFlow/8/process/126"]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500" dirty="0">
                <a:solidFill>
                  <a:srgbClr val="2D2D2D"/>
                </a:solidFill>
                <a:latin typeface="Courier New"/>
                <a:cs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500" i="1" dirty="0">
                <a:solidFill>
                  <a:srgbClr val="4AA86B"/>
                </a:solidFill>
                <a:latin typeface="Courier New"/>
                <a:cs typeface="Courier New"/>
              </a:rPr>
              <a:t># Instead of iterating 50 tasks and fetching _success artifact for each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Calibri"/>
              </a:defRPr>
            </a:pPr>
            <a:r>
              <a:t>When a task finishes, the Metaflow runtime writes attempt_ok = "True" or "False" to the metadata_v3 table. This is the same field the UI Backend reads via SQL. The metadata service has this data. We just need to use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3093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B68AE"/>
                </a:solidFill>
                <a:latin typeface="Calibri"/>
              </a:rPr>
              <a:t>02</a:t>
            </a:r>
            <a:r>
              <a:rPr sz="1000" b="0">
                <a:solidFill>
                  <a:srgbClr val="9A9A9A"/>
                </a:solidFill>
                <a:latin typeface="Calibri"/>
              </a:rPr>
              <a:t>  The Discovery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548640"/>
            <a:ext cx="2286000" cy="411480"/>
          </a:xfrm>
          <a:prstGeom prst="roundRect">
            <a:avLst/>
          </a:prstGeom>
          <a:solidFill>
            <a:srgbClr val="7B6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Discovery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The DB layer already supports LIMIT and ORDER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Calibri"/>
              </a:defRPr>
            </a:pPr>
            <a:r>
              <a:t>postgres_async_db.py has find_records() with limit, offset, and order parameters. The HTTP endpoints just don't expose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4754880" cy="228600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0DCD4"/>
            </a:solidFill>
          </a:ln>
          <a:effectLst/>
        </p:spPr>
        <p:txBody>
          <a:bodyPr wrap="square" lIns="274320" tIns="182880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i="1" dirty="0">
                <a:solidFill>
                  <a:srgbClr val="4AA86B"/>
                </a:solidFill>
                <a:latin typeface="Courier New"/>
                <a:cs typeface="Courier New"/>
              </a:rPr>
              <a:t># What the metadata service does today: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7B68AE"/>
                </a:solidFill>
                <a:latin typeface="Courier New"/>
                <a:cs typeface="Courier New"/>
              </a:rPr>
              <a:t>SELECT</a:t>
            </a:r>
            <a:r>
              <a:rPr lang="en-US" sz="1400" dirty="0">
                <a:solidFill>
                  <a:srgbClr val="2D2D2D"/>
                </a:solidFill>
                <a:latin typeface="Courier New"/>
                <a:cs typeface="Courier New"/>
              </a:rPr>
              <a:t> * </a:t>
            </a:r>
            <a:r>
              <a:rPr lang="en-US" sz="1400" b="1" dirty="0">
                <a:solidFill>
                  <a:srgbClr val="7B68AE"/>
                </a:solidFill>
                <a:latin typeface="Courier New"/>
                <a:cs typeface="Courier New"/>
              </a:rPr>
              <a:t>FROM</a:t>
            </a:r>
            <a:r>
              <a:rPr lang="en-US" sz="1400" dirty="0">
                <a:solidFill>
                  <a:srgbClr val="2D2D2D"/>
                </a:solidFill>
                <a:latin typeface="Courier New"/>
                <a:cs typeface="Courier New"/>
              </a:rPr>
              <a:t> runs_v3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7B68AE"/>
                </a:solidFill>
                <a:latin typeface="Courier New"/>
                <a:cs typeface="Courier New"/>
              </a:rPr>
              <a:t>WHERE</a:t>
            </a:r>
            <a:r>
              <a:rPr lang="en-US" sz="1400" dirty="0">
                <a:solidFill>
                  <a:srgbClr val="2D2D2D"/>
                </a:solidFill>
                <a:latin typeface="Courier New"/>
                <a:cs typeface="Courier New"/>
              </a:rPr>
              <a:t> flow_id = </a:t>
            </a:r>
            <a:r>
              <a:rPr lang="en-US" sz="1400" dirty="0">
                <a:solidFill>
                  <a:srgbClr val="4AA86B"/>
                </a:solidFill>
                <a:latin typeface="Courier New"/>
                <a:cs typeface="Courier New"/>
              </a:rPr>
              <a:t>'MyFlow'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i="1" dirty="0">
                <a:solidFill>
                  <a:srgbClr val="4AA86B"/>
                </a:solidFill>
                <a:latin typeface="Courier New"/>
                <a:cs typeface="Courier New"/>
              </a:rPr>
              <a:t>-- returns ALL runs, unbounded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2D2D2D"/>
                </a:solidFill>
                <a:latin typeface="Courier New"/>
                <a:cs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i="1" dirty="0">
                <a:solidFill>
                  <a:srgbClr val="4AA86B"/>
                </a:solidFill>
                <a:latin typeface="Courier New"/>
                <a:cs typeface="Courier New"/>
              </a:rPr>
              <a:t># What it COULD do (~15 lines of change):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7B68AE"/>
                </a:solidFill>
                <a:latin typeface="Courier New"/>
                <a:cs typeface="Courier New"/>
              </a:rPr>
              <a:t>SELECT</a:t>
            </a:r>
            <a:r>
              <a:rPr lang="en-US" sz="1400" dirty="0">
                <a:solidFill>
                  <a:srgbClr val="2D2D2D"/>
                </a:solidFill>
                <a:latin typeface="Courier New"/>
                <a:cs typeface="Courier New"/>
              </a:rPr>
              <a:t> * </a:t>
            </a:r>
            <a:r>
              <a:rPr lang="en-US" sz="1400" b="1" dirty="0">
                <a:solidFill>
                  <a:srgbClr val="7B68AE"/>
                </a:solidFill>
                <a:latin typeface="Courier New"/>
                <a:cs typeface="Courier New"/>
              </a:rPr>
              <a:t>FROM</a:t>
            </a:r>
            <a:r>
              <a:rPr lang="en-US" sz="1400" dirty="0">
                <a:solidFill>
                  <a:srgbClr val="2D2D2D"/>
                </a:solidFill>
                <a:latin typeface="Courier New"/>
                <a:cs typeface="Courier New"/>
              </a:rPr>
              <a:t> runs_v3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7B68AE"/>
                </a:solidFill>
                <a:latin typeface="Courier New"/>
                <a:cs typeface="Courier New"/>
              </a:rPr>
              <a:t>WHERE</a:t>
            </a:r>
            <a:r>
              <a:rPr lang="en-US" sz="1400" dirty="0">
                <a:solidFill>
                  <a:srgbClr val="2D2D2D"/>
                </a:solidFill>
                <a:latin typeface="Courier New"/>
                <a:cs typeface="Courier New"/>
              </a:rPr>
              <a:t> flow_id = </a:t>
            </a:r>
            <a:r>
              <a:rPr lang="en-US" sz="1400" dirty="0">
                <a:solidFill>
                  <a:srgbClr val="4AA86B"/>
                </a:solidFill>
                <a:latin typeface="Courier New"/>
                <a:cs typeface="Courier New"/>
              </a:rPr>
              <a:t>'MyFlow'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7B68AE"/>
                </a:solidFill>
                <a:latin typeface="Courier New"/>
                <a:cs typeface="Courier New"/>
              </a:rPr>
              <a:t>ORDER</a:t>
            </a:r>
            <a:r>
              <a:rPr lang="en-US" sz="1400" dirty="0">
                <a:solidFill>
                  <a:srgbClr val="2D2D2D"/>
                </a:solidFill>
                <a:latin typeface="Courier New"/>
                <a:cs typeface="Courier New"/>
              </a:rPr>
              <a:t> </a:t>
            </a:r>
            <a:r>
              <a:rPr lang="en-US" sz="1400" b="1" dirty="0">
                <a:solidFill>
                  <a:srgbClr val="7B68AE"/>
                </a:solidFill>
                <a:latin typeface="Courier New"/>
                <a:cs typeface="Courier New"/>
              </a:rPr>
              <a:t>BY</a:t>
            </a:r>
            <a:r>
              <a:rPr lang="en-US" sz="1400" dirty="0">
                <a:solidFill>
                  <a:srgbClr val="2D2D2D"/>
                </a:solidFill>
                <a:latin typeface="Courier New"/>
                <a:cs typeface="Courier New"/>
              </a:rPr>
              <a:t> ts_epoch DESC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7B68AE"/>
                </a:solidFill>
                <a:latin typeface="Courier New"/>
                <a:cs typeface="Courier New"/>
              </a:rPr>
              <a:t>LIMIT</a:t>
            </a:r>
            <a:r>
              <a:rPr lang="en-US" sz="1400" dirty="0">
                <a:solidFill>
                  <a:srgbClr val="2D2D2D"/>
                </a:solidFill>
                <a:latin typeface="Courier New"/>
                <a:cs typeface="Courier New"/>
              </a:rPr>
              <a:t>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743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The infrastructure is there.</a:t>
            </a:r>
            <a:br/>
            <a:br/>
            <a:r>
              <a:t>find_records() already accepts</a:t>
            </a:r>
            <a:br/>
            <a:r>
              <a:t>limit, offset, and order.</a:t>
            </a:r>
            <a:br/>
            <a:br/>
            <a:r>
              <a:t>~15 lines per endpoint to expose it.</a:t>
            </a:r>
            <a:br/>
            <a:br/>
            <a:r>
              <a:t>Benefits everyone, not just agents.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B68AE"/>
                </a:solidFill>
                <a:latin typeface="Calibri"/>
              </a:rPr>
              <a:t>02</a:t>
            </a:r>
            <a:r>
              <a:rPr sz="1000" b="0">
                <a:solidFill>
                  <a:srgbClr val="9A9A9A"/>
                </a:solidFill>
                <a:latin typeface="Calibri"/>
              </a:rPr>
              <a:t>  The Discovery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548640"/>
            <a:ext cx="2286000" cy="411480"/>
          </a:xfrm>
          <a:prstGeom prst="roundRect">
            <a:avLst/>
          </a:prstGeom>
          <a:solidFill>
            <a:srgbClr val="7B6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Discovery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D2D2D"/>
                </a:solidFill>
                <a:latin typeface="Calibri"/>
              </a:defRPr>
            </a:pPr>
            <a:r>
              <a:t>Task status computation is simpler than it looks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5757"/>
                </a:solidFill>
                <a:latin typeface="Calibri"/>
              </a:defRPr>
            </a:pPr>
            <a:r>
              <a:t>UI Backend: 300 lines, complex JOINs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4754880" cy="256032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0DCD4"/>
            </a:solidFill>
          </a:ln>
          <a:effectLst/>
        </p:spPr>
        <p:txBody>
          <a:bodyPr wrap="square" lIns="274320" tIns="182880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i="1" dirty="0">
                <a:solidFill>
                  <a:srgbClr val="4AA86B"/>
                </a:solidFill>
                <a:latin typeface="Courier New"/>
                <a:cs typeface="Courier New"/>
              </a:rPr>
              <a:t>-- UI Backend task status (simplified)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b="1" dirty="0">
                <a:solidFill>
                  <a:srgbClr val="7B68AE"/>
                </a:solidFill>
                <a:latin typeface="Courier New"/>
                <a:cs typeface="Courier New"/>
              </a:rPr>
              <a:t>CASE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 </a:t>
            </a:r>
            <a:r>
              <a:rPr lang="en-US" sz="1300" b="1" dirty="0">
                <a:solidFill>
                  <a:srgbClr val="7B68AE"/>
                </a:solidFill>
                <a:latin typeface="Courier New"/>
                <a:cs typeface="Courier New"/>
              </a:rPr>
              <a:t>WHEN</a:t>
            </a: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attempt_ok </a:t>
            </a:r>
            <a:r>
              <a:rPr lang="en-US" sz="1300" b="1" dirty="0">
                <a:solidFill>
                  <a:srgbClr val="7B68AE"/>
                </a:solidFill>
                <a:latin typeface="Courier New"/>
                <a:cs typeface="Courier New"/>
              </a:rPr>
              <a:t>IS</a:t>
            </a: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TRUE  -&gt; </a:t>
            </a:r>
            <a:r>
              <a:rPr lang="en-US" sz="1300" dirty="0">
                <a:solidFill>
                  <a:srgbClr val="4AA86B"/>
                </a:solidFill>
                <a:latin typeface="Courier New"/>
                <a:cs typeface="Courier New"/>
              </a:rPr>
              <a:t>'completed'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 </a:t>
            </a:r>
            <a:r>
              <a:rPr lang="en-US" sz="1300" b="1" dirty="0">
                <a:solidFill>
                  <a:srgbClr val="7B68AE"/>
                </a:solidFill>
                <a:latin typeface="Courier New"/>
                <a:cs typeface="Courier New"/>
              </a:rPr>
              <a:t>WHEN</a:t>
            </a: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attempt_ok </a:t>
            </a:r>
            <a:r>
              <a:rPr lang="en-US" sz="1300" b="1" dirty="0">
                <a:solidFill>
                  <a:srgbClr val="7B68AE"/>
                </a:solidFill>
                <a:latin typeface="Courier New"/>
                <a:cs typeface="Courier New"/>
              </a:rPr>
              <a:t>IS</a:t>
            </a: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FALSE -&gt; </a:t>
            </a:r>
            <a:r>
              <a:rPr lang="en-US" sz="1300" dirty="0">
                <a:solidFill>
                  <a:srgbClr val="4AA86B"/>
                </a:solidFill>
                <a:latin typeface="Courier New"/>
                <a:cs typeface="Courier New"/>
              </a:rPr>
              <a:t>'failed'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 </a:t>
            </a:r>
            <a:r>
              <a:rPr lang="en-US" sz="1300" b="1" dirty="0">
                <a:solidFill>
                  <a:srgbClr val="7B68AE"/>
                </a:solidFill>
                <a:latin typeface="Courier New"/>
                <a:cs typeface="Courier New"/>
              </a:rPr>
              <a:t>WHEN</a:t>
            </a: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heartbeat stale     -&gt; </a:t>
            </a:r>
            <a:r>
              <a:rPr lang="en-US" sz="1300" dirty="0">
                <a:solidFill>
                  <a:srgbClr val="4AA86B"/>
                </a:solidFill>
                <a:latin typeface="Courier New"/>
                <a:cs typeface="Courier New"/>
              </a:rPr>
              <a:t>'failed'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 </a:t>
            </a:r>
            <a:r>
              <a:rPr lang="en-US" sz="1300" b="1" dirty="0">
                <a:solidFill>
                  <a:srgbClr val="7B68AE"/>
                </a:solidFill>
                <a:latin typeface="Courier New"/>
                <a:cs typeface="Courier New"/>
              </a:rPr>
              <a:t>WHEN</a:t>
            </a: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old run no hb       -&gt; </a:t>
            </a:r>
            <a:r>
              <a:rPr lang="en-US" sz="1300" dirty="0">
                <a:solidFill>
                  <a:srgbClr val="4AA86B"/>
                </a:solidFill>
                <a:latin typeface="Courier New"/>
                <a:cs typeface="Courier New"/>
              </a:rPr>
              <a:t>'failed'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 </a:t>
            </a:r>
            <a:r>
              <a:rPr lang="en-US" sz="1300" b="1" dirty="0">
                <a:solidFill>
                  <a:srgbClr val="7B68AE"/>
                </a:solidFill>
                <a:latin typeface="Courier New"/>
                <a:cs typeface="Courier New"/>
              </a:rPr>
              <a:t>WHEN</a:t>
            </a: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no attempt          -&gt; </a:t>
            </a:r>
            <a:r>
              <a:rPr lang="en-US" sz="1300" dirty="0">
                <a:solidFill>
                  <a:srgbClr val="4AA86B"/>
                </a:solidFill>
                <a:latin typeface="Courier New"/>
                <a:cs typeface="Courier New"/>
              </a:rPr>
              <a:t>'pending'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 </a:t>
            </a:r>
            <a:r>
              <a:rPr lang="en-US" sz="1300" b="1" dirty="0">
                <a:solidFill>
                  <a:srgbClr val="7B68AE"/>
                </a:solidFill>
                <a:latin typeface="Courier New"/>
                <a:cs typeface="Courier New"/>
              </a:rPr>
              <a:t>ELSE</a:t>
            </a: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                    -&gt; </a:t>
            </a:r>
            <a:r>
              <a:rPr lang="en-US" sz="1300" dirty="0">
                <a:solidFill>
                  <a:srgbClr val="4AA86B"/>
                </a:solidFill>
                <a:latin typeface="Courier New"/>
                <a:cs typeface="Courier New"/>
              </a:rPr>
              <a:t>'running'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b="1" dirty="0">
                <a:solidFill>
                  <a:srgbClr val="7B68AE"/>
                </a:solidFill>
                <a:latin typeface="Courier New"/>
                <a:cs typeface="Courier New"/>
              </a:rPr>
              <a:t>END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i="1" dirty="0">
                <a:solidFill>
                  <a:srgbClr val="4AA86B"/>
                </a:solidFill>
                <a:latin typeface="Courier New"/>
                <a:cs typeface="Courier New"/>
              </a:rPr>
              <a:t>-- 100+ lines of lateral JOINs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A86B"/>
                </a:solidFill>
                <a:latin typeface="Calibri"/>
              </a:defRPr>
            </a:pPr>
            <a:r>
              <a:t>What we need: 3 lines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4754880" cy="219456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0DCD4"/>
            </a:solidFill>
          </a:ln>
          <a:effectLst/>
        </p:spPr>
        <p:txBody>
          <a:bodyPr wrap="square" lIns="274320" tIns="182880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i="1" dirty="0">
                <a:solidFill>
                  <a:srgbClr val="4AA86B"/>
                </a:solidFill>
                <a:latin typeface="Courier New"/>
                <a:cs typeface="Courier New"/>
              </a:rPr>
              <a:t>-- Simplified status (covers 90% of cases)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7B68AE"/>
                </a:solidFill>
                <a:latin typeface="Courier New"/>
                <a:cs typeface="Courier New"/>
              </a:rPr>
              <a:t>CASE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2D2D2D"/>
                </a:solidFill>
                <a:latin typeface="Courier New"/>
                <a:cs typeface="Courier New"/>
              </a:rPr>
              <a:t>  </a:t>
            </a:r>
            <a:r>
              <a:rPr lang="en-US" sz="1400" b="1" dirty="0">
                <a:solidFill>
                  <a:srgbClr val="7B68AE"/>
                </a:solidFill>
                <a:latin typeface="Courier New"/>
                <a:cs typeface="Courier New"/>
              </a:rPr>
              <a:t>WHEN</a:t>
            </a:r>
            <a:r>
              <a:rPr lang="en-US" sz="1400" dirty="0">
                <a:solidFill>
                  <a:srgbClr val="2D2D2D"/>
                </a:solidFill>
                <a:latin typeface="Courier New"/>
                <a:cs typeface="Courier New"/>
              </a:rPr>
              <a:t> attempt_ok = </a:t>
            </a:r>
            <a:r>
              <a:rPr lang="en-US" sz="1400" dirty="0">
                <a:solidFill>
                  <a:srgbClr val="4AA86B"/>
                </a:solidFill>
                <a:latin typeface="Courier New"/>
                <a:cs typeface="Courier New"/>
              </a:rPr>
              <a:t>'True'</a:t>
            </a:r>
            <a:r>
              <a:rPr lang="en-US" sz="1400" dirty="0">
                <a:solidFill>
                  <a:srgbClr val="2D2D2D"/>
                </a:solidFill>
                <a:latin typeface="Courier New"/>
                <a:cs typeface="Courier New"/>
              </a:rPr>
              <a:t>  -&gt; </a:t>
            </a:r>
            <a:r>
              <a:rPr lang="en-US" sz="1400" dirty="0">
                <a:solidFill>
                  <a:srgbClr val="4AA86B"/>
                </a:solidFill>
                <a:latin typeface="Courier New"/>
                <a:cs typeface="Courier New"/>
              </a:rPr>
              <a:t>'completed'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2D2D2D"/>
                </a:solidFill>
                <a:latin typeface="Courier New"/>
                <a:cs typeface="Courier New"/>
              </a:rPr>
              <a:t>  </a:t>
            </a:r>
            <a:r>
              <a:rPr lang="en-US" sz="1400" b="1" dirty="0">
                <a:solidFill>
                  <a:srgbClr val="7B68AE"/>
                </a:solidFill>
                <a:latin typeface="Courier New"/>
                <a:cs typeface="Courier New"/>
              </a:rPr>
              <a:t>WHEN</a:t>
            </a:r>
            <a:r>
              <a:rPr lang="en-US" sz="1400" dirty="0">
                <a:solidFill>
                  <a:srgbClr val="2D2D2D"/>
                </a:solidFill>
                <a:latin typeface="Courier New"/>
                <a:cs typeface="Courier New"/>
              </a:rPr>
              <a:t> attempt_ok = </a:t>
            </a:r>
            <a:r>
              <a:rPr lang="en-US" sz="1400" dirty="0">
                <a:solidFill>
                  <a:srgbClr val="4AA86B"/>
                </a:solidFill>
                <a:latin typeface="Courier New"/>
                <a:cs typeface="Courier New"/>
              </a:rPr>
              <a:t>'False'</a:t>
            </a:r>
            <a:r>
              <a:rPr lang="en-US" sz="1400" dirty="0">
                <a:solidFill>
                  <a:srgbClr val="2D2D2D"/>
                </a:solidFill>
                <a:latin typeface="Courier New"/>
                <a:cs typeface="Courier New"/>
              </a:rPr>
              <a:t> -&gt; </a:t>
            </a:r>
            <a:r>
              <a:rPr lang="en-US" sz="1400" dirty="0">
                <a:solidFill>
                  <a:srgbClr val="4AA86B"/>
                </a:solidFill>
                <a:latin typeface="Courier New"/>
                <a:cs typeface="Courier New"/>
              </a:rPr>
              <a:t>'failed'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2D2D2D"/>
                </a:solidFill>
                <a:latin typeface="Courier New"/>
                <a:cs typeface="Courier New"/>
              </a:rPr>
              <a:t>  </a:t>
            </a:r>
            <a:r>
              <a:rPr lang="en-US" sz="1400" b="1" dirty="0">
                <a:solidFill>
                  <a:srgbClr val="7B68AE"/>
                </a:solidFill>
                <a:latin typeface="Courier New"/>
                <a:cs typeface="Courier New"/>
              </a:rPr>
              <a:t>ELSE</a:t>
            </a:r>
            <a:r>
              <a:rPr lang="en-US" sz="1400" dirty="0">
                <a:solidFill>
                  <a:srgbClr val="2D2D2D"/>
                </a:solidFill>
                <a:latin typeface="Courier New"/>
                <a:cs typeface="Courier New"/>
              </a:rPr>
              <a:t>                      -&gt; </a:t>
            </a:r>
            <a:r>
              <a:rPr lang="en-US" sz="1400" dirty="0">
                <a:solidFill>
                  <a:srgbClr val="4AA86B"/>
                </a:solidFill>
                <a:latin typeface="Courier New"/>
                <a:cs typeface="Courier New"/>
              </a:rPr>
              <a:t>'running'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7B68AE"/>
                </a:solidFill>
                <a:latin typeface="Courier New"/>
                <a:cs typeface="Courier New"/>
              </a:rPr>
              <a:t>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754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6B"/>
                </a:solidFill>
                <a:latin typeface="Calibri"/>
              </a:defRPr>
            </a:pPr>
            <a:r>
              <a:t>The core signal is attempt_ok in the metadata table. The other 97 lines handle edge cases (stale heartbeats, old runs). For agent queries, the simplified version is enough.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3093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B68AE"/>
                </a:solidFill>
                <a:latin typeface="Calibri"/>
              </a:rPr>
              <a:t>02</a:t>
            </a:r>
            <a:r>
              <a:rPr sz="1000" b="0">
                <a:solidFill>
                  <a:srgbClr val="9A9A9A"/>
                </a:solidFill>
                <a:latin typeface="Calibri"/>
              </a:rPr>
              <a:t>  The Discovery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5603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D2D2D"/>
                </a:solidFill>
                <a:latin typeface="Calibri"/>
              </a:defRPr>
            </a:pPr>
            <a:r>
              <a:t>The Benchmark</a:t>
            </a:r>
            <a:br/>
            <a:r>
              <a:t>Three paths, one question, real numbers</a:t>
            </a:r>
          </a:p>
        </p:txBody>
      </p:sp>
      <p:pic>
        <p:nvPicPr>
          <p:cNvPr id="3" name="Octopu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828800"/>
            <a:ext cx="22860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B68AE"/>
                </a:solidFill>
                <a:latin typeface="Calibri"/>
              </a:rPr>
              <a:t>03</a:t>
            </a:r>
            <a:r>
              <a:rPr sz="1000" b="0">
                <a:solidFill>
                  <a:srgbClr val="9A9A9A"/>
                </a:solidFill>
                <a:latin typeface="Calibri"/>
              </a:rPr>
              <a:t>  The Benchmark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Calibri"/>
              </a:defRPr>
            </a:pPr>
            <a:r>
              <a:t>"Which tasks failed?" — 50-task foreach, 1 failure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Calibri"/>
              </a:defRPr>
            </a:pPr>
            <a:r>
              <a:t>All three paths return the same answer. Same database. Same failed task.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9144000" cy="1097280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5757"/>
                </a:solidFill>
                <a:latin typeface="Calibri"/>
              </a:defRPr>
            </a:pPr>
            <a:r>
              <a:t>A: Naive Client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Calibri"/>
              </a:defRPr>
            </a:pPr>
            <a:r>
              <a:t>Iterate tasks, fetch _success artifact per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488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E85757"/>
                </a:solidFill>
                <a:latin typeface="Calibri"/>
              </a:defRPr>
            </a:pPr>
            <a:r>
              <a:t>56 calls</a:t>
            </a:r>
            <a:br/>
            <a:r>
              <a:t>3,800ms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383280"/>
            <a:ext cx="9144000" cy="1097280"/>
          </a:xfrm>
          <a:prstGeom prst="rect">
            <a:avLst/>
          </a:prstGeom>
          <a:solidFill>
            <a:srgbClr val="E8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A86B"/>
                </a:solidFill>
                <a:latin typeface="Calibri"/>
              </a:defRPr>
            </a:pPr>
            <a:r>
              <a:t>C: Smart Metadata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Calibri"/>
              </a:defRPr>
            </a:pPr>
            <a:r>
              <a:t>filter_tasks_by_metadata — no UI Backend needed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5204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4AA86B"/>
                </a:solidFill>
                <a:latin typeface="Calibri"/>
              </a:defRPr>
            </a:pPr>
            <a:r>
              <a:t>4 calls</a:t>
            </a:r>
            <a:br/>
            <a:r>
              <a:t>349ms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754880"/>
            <a:ext cx="9144000" cy="109728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Calibri"/>
              </a:defRPr>
            </a:pPr>
            <a:r>
              <a:t>B: UI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57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Calibri"/>
              </a:defRPr>
            </a:pPr>
            <a:r>
              <a:t>Requires extra service (port 8083)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8920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1A56DB"/>
                </a:solidFill>
                <a:latin typeface="Calibri"/>
              </a:defRPr>
            </a:pPr>
            <a:r>
              <a:t>2 calls</a:t>
            </a:r>
            <a:br/>
            <a:r>
              <a:t>35ms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A86B"/>
                </a:solidFill>
                <a:latin typeface="Calibri"/>
              </a:defRPr>
            </a:pPr>
            <a:r>
              <a:t>Smart Metadata: 8.6x faster than today, works everywhere, no extra infrastructure.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3093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B68AE"/>
                </a:solidFill>
                <a:latin typeface="Calibri"/>
              </a:rPr>
              <a:t>03</a:t>
            </a:r>
            <a:r>
              <a:rPr sz="1000" b="0">
                <a:solidFill>
                  <a:srgbClr val="9A9A9A"/>
                </a:solidFill>
                <a:latin typeface="Calibri"/>
              </a:rPr>
              <a:t>  The Benchmark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Calibri"/>
              </a:defRPr>
            </a:pPr>
            <a:r>
              <a:t>Metaflow benchmarks itself — visible in the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  <a:latin typeface="Calibri"/>
              </a:defRPr>
            </a:pPr>
            <a:r>
              <a:t>BenchmarkThreePaths flow: three branches, same question, join to compare</a:t>
            </a:r>
          </a:p>
        </p:txBody>
      </p:sp>
      <p:pic>
        <p:nvPicPr>
          <p:cNvPr id="4" name="Picture 3" descr="benchmark_d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10515600" cy="672239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Calibri"/>
              </a:defRPr>
            </a:pPr>
            <a:r>
              <a:rPr dirty="0"/>
              <a:t>All 6 </a:t>
            </a:r>
            <a:r>
              <a:rPr dirty="0" err="1"/>
              <a:t>GSoC</a:t>
            </a:r>
            <a:r>
              <a:rPr dirty="0"/>
              <a:t> use cases </a:t>
            </a:r>
            <a:r>
              <a:rPr lang="it-IT" dirty="0"/>
              <a:t>---</a:t>
            </a:r>
            <a:r>
              <a:rPr dirty="0"/>
              <a:t> benchmarked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84735"/>
            <a:ext cx="10515600" cy="457200"/>
          </a:xfrm>
          <a:prstGeom prst="rect">
            <a:avLst/>
          </a:prstGeom>
          <a:solidFill>
            <a:srgbClr val="7B6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30455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130455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Use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130455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Client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130455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Smart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1130455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Speedup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724815"/>
            <a:ext cx="10515600" cy="54864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816255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816255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List runs by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816255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4 calls, 134ms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816255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1 call, 20ms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1816255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A86B"/>
                </a:solidFill>
                <a:latin typeface="Calibri"/>
              </a:defRPr>
            </a:pPr>
            <a:r>
              <a:t>6.7x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364895"/>
            <a:ext cx="10515600" cy="548640"/>
          </a:xfrm>
          <a:prstGeom prst="rect">
            <a:avLst/>
          </a:prstGeom>
          <a:solidFill>
            <a:srgbClr val="F0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456335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456335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Filter runs by time range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456335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2 calls, 18ms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456335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1 call, 12ms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2456335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A86B"/>
                </a:solidFill>
                <a:latin typeface="Calibri"/>
              </a:defRPr>
            </a:pPr>
            <a:r>
              <a:t>1.5x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004975"/>
            <a:ext cx="10515600" cy="54864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096415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096415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Find failed tasks + errors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096415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57 calls, 2006ms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096415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5 calls, 105ms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3096415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A86B"/>
                </a:solidFill>
                <a:latin typeface="Calibri"/>
              </a:defRPr>
            </a:pPr>
            <a:r>
              <a:t>19.1x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645055"/>
            <a:ext cx="10515600" cy="548640"/>
          </a:xfrm>
          <a:prstGeom prst="rect">
            <a:avLst/>
          </a:prstGeom>
          <a:solidFill>
            <a:srgbClr val="F0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373649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73649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Artifact metadata (no data)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373649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5 calls, 39ms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373649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4 calls, 133ms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373649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5757"/>
                </a:solidFill>
                <a:latin typeface="Calibri"/>
              </a:defRPr>
            </a:pPr>
            <a:r>
              <a:t>0.3x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285135"/>
            <a:ext cx="10515600" cy="54864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4376575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4376575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Bounded log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4376575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6 calls, 93ms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4376575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4 calls, 231ms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4376575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5757"/>
                </a:solidFill>
                <a:latin typeface="Calibri"/>
              </a:defRPr>
            </a:pPr>
            <a:r>
              <a:t>0.4x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925215"/>
            <a:ext cx="10515600" cy="548640"/>
          </a:xfrm>
          <a:prstGeom prst="rect">
            <a:avLst/>
          </a:prstGeom>
          <a:solidFill>
            <a:srgbClr val="F0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" y="5016655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63040" y="5016655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Cross-run artifact search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0" y="5016655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8 calls, 93ms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5016655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5 calls, 51ms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0" y="5016655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A86B"/>
                </a:solidFill>
                <a:latin typeface="Calibri"/>
              </a:defRPr>
            </a:pPr>
            <a:r>
              <a:t>1.8x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656735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UC3 (find failures) is the dominant bottleneck: 57 of 82 total calls (70%). UC4/UC5 show the UI Backend is slower for small queries due to cache overhead. The smart approach routes each use case to the best available path.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3093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B68AE"/>
                </a:solidFill>
                <a:latin typeface="Calibri"/>
              </a:rPr>
              <a:t>03</a:t>
            </a:r>
            <a:r>
              <a:rPr sz="1000" b="0">
                <a:solidFill>
                  <a:srgbClr val="9A9A9A"/>
                </a:solidFill>
                <a:latin typeface="Calibri"/>
              </a:rPr>
              <a:t>  The Benchmark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Calibri"/>
              </a:defRPr>
            </a:pPr>
            <a:r>
              <a:t>UC4 and UC5: not about speed, about bounded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200400" cy="411480"/>
          </a:xfrm>
          <a:prstGeom prst="roundRect">
            <a:avLst/>
          </a:prstGeom>
          <a:solidFill>
            <a:srgbClr val="7B6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UC4: Artifact metadata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731520" y="1920240"/>
                <a:ext cx="4846320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500" b="1">
                    <a:solidFill>
                      <a:srgbClr val="2D2D2D"/>
                    </a:solidFill>
                    <a:latin typeface="Calibri"/>
                  </a:defRPr>
                </a:pPr>
                <a:r>
                  <a:rPr dirty="0"/>
                  <a:t>Speed is fine (5 calls,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dirty="0"/>
                  <a:t>50ms)</a:t>
                </a: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920240"/>
                <a:ext cx="4846320" cy="323165"/>
              </a:xfrm>
              <a:prstGeom prst="rect">
                <a:avLst/>
              </a:prstGeom>
              <a:blipFill>
                <a:blip r:embed="rId2"/>
                <a:stretch>
                  <a:fillRect l="-522" t="-3846" b="-19231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731520" y="23774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Real problem: no cross-task artifact listing. "Find where accuracy was highest" requires iterating every task.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A86B"/>
                </a:solidFill>
                <a:latin typeface="Calibri"/>
              </a:defRPr>
            </a:pPr>
            <a:r>
              <a:t>Fix: cross-task artifact endpoint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One call returns artifact metadata for all tasks in a step, filterable by name. No data loading.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3200400" cy="411480"/>
          </a:xfrm>
          <a:prstGeom prst="roundRect">
            <a:avLst/>
          </a:prstGeom>
          <a:solidFill>
            <a:srgbClr val="7B6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UC5: Bounded 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20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Calibri"/>
              </a:defRPr>
            </a:pPr>
            <a:r>
              <a:t>task.stdout loads ENTIRE 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3774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50MB training output? Agent gets all 50MB. No way to ask for last 10 lines or lines matching an error.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474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A86B"/>
                </a:solidFill>
                <a:latin typeface="Calibri"/>
              </a:defRPr>
            </a:pPr>
            <a:r>
              <a:t>Fix: bounded log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9319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1. Client-side tail: seek to end, read last N lines</a:t>
            </a:r>
            <a:br/>
            <a:r>
              <a:t>2. Service-side: /logs?_limit=N&amp;_pattern=Error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2D2D"/>
                </a:solidFill>
                <a:latin typeface="Calibri"/>
              </a:defRPr>
            </a:pPr>
            <a:r>
              <a:t>An agent should never download 50MB to read 10 lines, or iterate 1000 tasks to find one artifact.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3093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B68AE"/>
                </a:solidFill>
                <a:latin typeface="Calibri"/>
              </a:rPr>
              <a:t>03</a:t>
            </a:r>
            <a:r>
              <a:rPr sz="1000" b="0">
                <a:solidFill>
                  <a:srgbClr val="9A9A9A"/>
                </a:solidFill>
                <a:latin typeface="Calibri"/>
              </a:rPr>
              <a:t>  The Benchmark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5603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D2D2D"/>
                </a:solidFill>
                <a:latin typeface="Calibri"/>
              </a:defRPr>
            </a:pPr>
            <a:r>
              <a:t>What we're building</a:t>
            </a:r>
          </a:p>
        </p:txBody>
      </p:sp>
      <p:pic>
        <p:nvPicPr>
          <p:cNvPr id="3" name="Lapt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3631131"/>
            <a:ext cx="3657600" cy="2834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B68AE"/>
                </a:solidFill>
                <a:latin typeface="Calibri"/>
              </a:rPr>
              <a:t>04</a:t>
            </a:r>
            <a:r>
              <a:rPr sz="1000" b="0">
                <a:solidFill>
                  <a:srgbClr val="9A9A9A"/>
                </a:solidFill>
                <a:latin typeface="Calibri"/>
              </a:rPr>
              <a:t>  The Solution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Calibri"/>
              </a:defRPr>
            </a:pPr>
            <a:r>
              <a:t>Three layers, each independently useful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645920" cy="411480"/>
          </a:xfrm>
          <a:prstGeom prst="roundRect">
            <a:avLst/>
          </a:prstGeom>
          <a:solidFill>
            <a:srgbClr val="4A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Layer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325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Calibri"/>
              </a:defRPr>
            </a:pPr>
            <a:r>
              <a:t>Extension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737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metaflow-agent-client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Calibri"/>
              </a:defRPr>
            </a:pPr>
            <a:r>
              <a:t>Smart functions using filter_tasks_by_metadata + existing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A86B"/>
                </a:solidFill>
                <a:latin typeface="Calibri"/>
              </a:defRPr>
            </a:pPr>
            <a:r>
              <a:t>No core changes. Works today on service &gt;= 2.5.0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1645920" cy="411480"/>
          </a:xfrm>
          <a:prstGeom prst="roundRect">
            <a:avLst/>
          </a:prstGeom>
          <a:solidFill>
            <a:srgbClr val="7B6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Layer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971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Calibri"/>
              </a:defRPr>
            </a:pPr>
            <a:r>
              <a:t>Metadata Service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743200" y="3383279"/>
                <a:ext cx="36576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400" b="0">
                    <a:solidFill>
                      <a:srgbClr val="6B6B6B"/>
                    </a:solidFill>
                    <a:latin typeface="Calibri"/>
                  </a:defRPr>
                </a:pP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dirty="0"/>
                  <a:t>150 lines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3383279"/>
                <a:ext cx="3657600" cy="307777"/>
              </a:xfrm>
              <a:prstGeom prst="rect">
                <a:avLst/>
              </a:prstGeom>
              <a:blipFill>
                <a:blip r:embed="rId2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685800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Calibri"/>
              </a:defRPr>
            </a:pPr>
            <a:r>
              <a:t>Add _limit, _order to endpoints (DB already supports 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B68AE"/>
                </a:solidFill>
                <a:latin typeface="Calibri"/>
              </a:defRPr>
            </a:pPr>
            <a:r>
              <a:t>Benefits everyone. Small, targeted changes.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1645920" cy="4114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Layer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617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Calibri"/>
              </a:defRPr>
            </a:pPr>
            <a:r>
              <a:t>Client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5029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ServiceMetadataProvider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663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Calibri"/>
              </a:defRPr>
            </a:pPr>
            <a:r>
              <a:t>Automatically use new query params (version-gated)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Calibri"/>
              </a:defRPr>
            </a:pPr>
            <a:r>
              <a:t>Transparent speedup. Existing code gets faster.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2D2D"/>
                </a:solidFill>
                <a:latin typeface="Calibri"/>
              </a:defRPr>
            </a:pPr>
            <a:r>
              <a:t>No dependency on UI Backend. Every deployment gets the improvement.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3093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B68AE"/>
                </a:solidFill>
                <a:latin typeface="Calibri"/>
              </a:rPr>
              <a:t>04</a:t>
            </a:r>
            <a:r>
              <a:rPr sz="1000" b="0">
                <a:solidFill>
                  <a:srgbClr val="9A9A9A"/>
                </a:solidFill>
                <a:latin typeface="Calibri"/>
              </a:rPr>
              <a:t>  The Solution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Calibri"/>
              </a:defRPr>
            </a:pPr>
            <a:r>
              <a:t>Before and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5757"/>
                </a:solidFill>
                <a:latin typeface="Calibri"/>
              </a:defRPr>
            </a:pPr>
            <a:r>
              <a:t>Today: 56 HTTP calls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274320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0DCD4"/>
            </a:solidFill>
          </a:ln>
          <a:effectLst/>
        </p:spPr>
        <p:txBody>
          <a:bodyPr wrap="square" lIns="274320" tIns="182880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i="1" dirty="0">
                <a:solidFill>
                  <a:srgbClr val="4AA86B"/>
                </a:solidFill>
                <a:latin typeface="Courier New"/>
                <a:cs typeface="Courier New"/>
              </a:rPr>
              <a:t># Agent iterates every task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failures = []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b="1" dirty="0">
                <a:solidFill>
                  <a:srgbClr val="7B68AE"/>
                </a:solidFill>
                <a:latin typeface="Courier New"/>
                <a:cs typeface="Courier New"/>
              </a:rPr>
              <a:t>for</a:t>
            </a: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step </a:t>
            </a:r>
            <a:r>
              <a:rPr lang="en-US" sz="1300" b="1" dirty="0">
                <a:solidFill>
                  <a:srgbClr val="7B68AE"/>
                </a:solidFill>
                <a:latin typeface="Courier New"/>
                <a:cs typeface="Courier New"/>
              </a:rPr>
              <a:t>in</a:t>
            </a: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run: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   </a:t>
            </a:r>
            <a:r>
              <a:rPr lang="en-US" sz="1300" b="1" dirty="0">
                <a:solidFill>
                  <a:srgbClr val="7B68AE"/>
                </a:solidFill>
                <a:latin typeface="Courier New"/>
                <a:cs typeface="Courier New"/>
              </a:rPr>
              <a:t>for</a:t>
            </a: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task </a:t>
            </a:r>
            <a:r>
              <a:rPr lang="en-US" sz="1300" b="1" dirty="0">
                <a:solidFill>
                  <a:srgbClr val="7B68AE"/>
                </a:solidFill>
                <a:latin typeface="Courier New"/>
                <a:cs typeface="Courier New"/>
              </a:rPr>
              <a:t>in</a:t>
            </a: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step: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       </a:t>
            </a:r>
            <a:r>
              <a:rPr lang="en-US" sz="1300" b="1" dirty="0">
                <a:solidFill>
                  <a:srgbClr val="7B68AE"/>
                </a:solidFill>
                <a:latin typeface="Courier New"/>
                <a:cs typeface="Courier New"/>
              </a:rPr>
              <a:t>if</a:t>
            </a: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</a:t>
            </a:r>
            <a:r>
              <a:rPr lang="en-US" sz="1300" b="1" dirty="0">
                <a:solidFill>
                  <a:srgbClr val="7B68AE"/>
                </a:solidFill>
                <a:latin typeface="Courier New"/>
                <a:cs typeface="Courier New"/>
              </a:rPr>
              <a:t>not</a:t>
            </a: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task.successful: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           failures.append(task.pathspec)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i="1" dirty="0">
                <a:solidFill>
                  <a:srgbClr val="4AA86B"/>
                </a:solidFill>
                <a:latin typeface="Courier New"/>
                <a:cs typeface="Courier New"/>
              </a:rPr>
              <a:t># 56 HTTP calls, ~3800ms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i="1" dirty="0">
                <a:solidFill>
                  <a:srgbClr val="4AA86B"/>
                </a:solidFill>
                <a:latin typeface="Courier New"/>
                <a:cs typeface="Courier New"/>
              </a:rPr>
              <a:t># 50 artifact fetches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i="1" dirty="0">
                <a:solidFill>
                  <a:srgbClr val="4AA86B"/>
                </a:solidFill>
                <a:latin typeface="Courier New"/>
                <a:cs typeface="Courier New"/>
              </a:rPr>
              <a:t># 50 datastore reads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i="1" dirty="0">
                <a:solidFill>
                  <a:srgbClr val="4AA86B"/>
                </a:solidFill>
                <a:latin typeface="Courier New"/>
                <a:cs typeface="Courier New"/>
              </a:rPr>
              <a:t># 50 unpickle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A86B"/>
                </a:solidFill>
                <a:latin typeface="Calibri"/>
              </a:defRPr>
            </a:pPr>
            <a:r>
              <a:t>After: 4 HTTP calls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029200" cy="274320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0DCD4"/>
            </a:solidFill>
          </a:ln>
          <a:effectLst/>
        </p:spPr>
        <p:txBody>
          <a:bodyPr wrap="square" lIns="274320" tIns="182880" rtlCol="0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i="1" dirty="0">
                <a:solidFill>
                  <a:srgbClr val="4AA86B"/>
                </a:solidFill>
                <a:latin typeface="Courier New"/>
                <a:cs typeface="Courier New"/>
              </a:rPr>
              <a:t># Agent calls one function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b="1" dirty="0">
                <a:solidFill>
                  <a:srgbClr val="7B68AE"/>
                </a:solidFill>
                <a:latin typeface="Courier New"/>
                <a:cs typeface="Courier New"/>
              </a:rPr>
              <a:t>from</a:t>
            </a: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metaflow_extensions.agent_client </a:t>
            </a:r>
            <a:r>
              <a:rPr lang="en-US" sz="1300" b="1" dirty="0">
                <a:solidFill>
                  <a:srgbClr val="7B68AE"/>
                </a:solidFill>
                <a:latin typeface="Courier New"/>
                <a:cs typeface="Courier New"/>
              </a:rPr>
              <a:t>import</a:t>
            </a: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   </a:t>
            </a:r>
            <a:r>
              <a:rPr lang="en-US" sz="1300" dirty="0">
                <a:solidFill>
                  <a:srgbClr val="2D8CC9"/>
                </a:solidFill>
                <a:latin typeface="Courier New"/>
                <a:cs typeface="Courier New"/>
              </a:rPr>
              <a:t>find_failures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2D8CC9"/>
                </a:solidFill>
                <a:latin typeface="Courier New"/>
                <a:cs typeface="Courier New"/>
              </a:rPr>
              <a:t>result</a:t>
            </a: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= </a:t>
            </a:r>
            <a:r>
              <a:rPr lang="en-US" sz="1300" dirty="0">
                <a:solidFill>
                  <a:srgbClr val="2D8CC9"/>
                </a:solidFill>
                <a:latin typeface="Courier New"/>
                <a:cs typeface="Courier New"/>
              </a:rPr>
              <a:t>find_failures</a:t>
            </a: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("ForeachFlow/8</a:t>
            </a:r>
            <a:r>
              <a:rPr lang="en-US" sz="1300" dirty="0">
                <a:solidFill>
                  <a:srgbClr val="4AA86B"/>
                </a:solidFill>
                <a:latin typeface="Courier New"/>
                <a:cs typeface="Courier New"/>
              </a:rPr>
              <a:t>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i="1" dirty="0">
                <a:solidFill>
                  <a:srgbClr val="4AA86B"/>
                </a:solidFill>
                <a:latin typeface="Courier New"/>
                <a:cs typeface="Courier New"/>
              </a:rPr>
              <a:t># result["failures"]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i="1" dirty="0">
                <a:solidFill>
                  <a:srgbClr val="4AA86B"/>
                </a:solidFill>
                <a:latin typeface="Courier New"/>
                <a:cs typeface="Courier New"/>
              </a:rPr>
              <a:t>#   -&gt; ["ForeachFlow/8/process/126"]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2D2D2D"/>
                </a:solidFill>
                <a:latin typeface="Courier New"/>
                <a:cs typeface="Courier New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i="1" dirty="0">
                <a:solidFill>
                  <a:srgbClr val="4AA86B"/>
                </a:solidFill>
                <a:latin typeface="Courier New"/>
                <a:cs typeface="Courier New"/>
              </a:rPr>
              <a:t># 4 HTTP calls, ~350ms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i="1" dirty="0">
                <a:solidFill>
                  <a:srgbClr val="4AA86B"/>
                </a:solidFill>
                <a:latin typeface="Courier New"/>
                <a:cs typeface="Courier New"/>
              </a:rPr>
              <a:t># 0 artifact fetches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300" i="1" dirty="0">
                <a:solidFill>
                  <a:srgbClr val="4AA86B"/>
                </a:solidFill>
                <a:latin typeface="Courier New"/>
                <a:cs typeface="Courier New"/>
              </a:rPr>
              <a:t># 0 datastore reads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2D2D"/>
                </a:solidFill>
                <a:latin typeface="Calibri"/>
              </a:defRPr>
            </a:pPr>
            <a:r>
              <a:t>Same answer. 93% fewer calls. 8.6x faster.</a:t>
            </a:r>
            <a:br/>
            <a:r>
              <a:t>Works on every deployment with metadata service &gt;= 2.5.0.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3093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B68AE"/>
                </a:solidFill>
                <a:latin typeface="Calibri"/>
              </a:rPr>
              <a:t>04</a:t>
            </a:r>
            <a:r>
              <a:rPr sz="1000" b="0">
                <a:solidFill>
                  <a:srgbClr val="9A9A9A"/>
                </a:solidFill>
                <a:latin typeface="Calibri"/>
              </a:rPr>
              <a:t>  The Solution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Calibri"/>
              </a:defRPr>
            </a:pPr>
            <a:r>
              <a:t>GSoC Timeline: 350 hours, 16 weeks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645920" cy="411480"/>
          </a:xfrm>
          <a:prstGeom prst="roundRect">
            <a:avLst/>
          </a:prstGeom>
          <a:solidFill>
            <a:srgbClr val="4A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417320"/>
            <a:ext cx="7772400" cy="320040"/>
          </a:xfrm>
          <a:prstGeom prst="rect">
            <a:avLst/>
          </a:prstGeom>
          <a:solidFill>
            <a:srgbClr val="4A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34640" y="1389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Weeks 1-4 | 90h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898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828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Extension package + 6 utility functions + 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1645920" cy="411480"/>
          </a:xfrm>
          <a:prstGeom prst="roundRect">
            <a:avLst/>
          </a:prstGeom>
          <a:solidFill>
            <a:srgbClr val="7B6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2697479"/>
            <a:ext cx="7772400" cy="320040"/>
          </a:xfrm>
          <a:prstGeom prst="rect">
            <a:avLst/>
          </a:prstGeom>
          <a:solidFill>
            <a:srgbClr val="7B6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34640" y="26700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Weeks 5-8 | 90h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670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Core 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108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Metadata service _limit/_order + provider enhancement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645920" cy="4114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3977639"/>
            <a:ext cx="7772400" cy="3200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34640" y="3950207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Weeks 9-12 | 90h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950207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Agent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389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Agent simulation, tool schemas, robustness testing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212079"/>
            <a:ext cx="1645920" cy="411480"/>
          </a:xfrm>
          <a:prstGeom prst="round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5257799"/>
            <a:ext cx="7772400" cy="32004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34640" y="5230367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Weeks 13-16 | 80h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230367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Documentation &amp; Polish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66927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6B"/>
                </a:solidFill>
                <a:latin typeface="Calibri"/>
              </a:defRPr>
            </a:pPr>
            <a:r>
              <a:t>User/agent docs, PR preparation, final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2D2D"/>
                </a:solidFill>
                <a:latin typeface="Calibri"/>
              </a:defRPr>
            </a:pPr>
            <a:r>
              <a:t>Each phase delivers standalone, testable, demonstrable value.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3093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B68AE"/>
                </a:solidFill>
                <a:latin typeface="Calibri"/>
              </a:rPr>
              <a:t>05</a:t>
            </a:r>
            <a:r>
              <a:rPr sz="1000" b="0">
                <a:solidFill>
                  <a:srgbClr val="9A9A9A"/>
                </a:solidFill>
                <a:latin typeface="Calibri"/>
              </a:rPr>
              <a:t>  GSoC Timeline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926080" cy="411480"/>
          </a:xfrm>
          <a:prstGeom prst="roundRect">
            <a:avLst/>
          </a:prstGeom>
          <a:solidFill>
            <a:srgbClr val="7B6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For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Debug flows without hammering the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Structured responses, bounded queries, predictable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Tool schemas for MCP/function-calling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2926080" cy="411480"/>
          </a:xfrm>
          <a:prstGeom prst="roundRect">
            <a:avLst/>
          </a:prstGeom>
          <a:solidFill>
            <a:srgbClr val="4A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For all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0116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Pagination and ordering on metadata service (benefits everyone)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743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Faster Client API iteration (transparent, version-gated)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474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Audit reveals where to invest next in the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2926080" cy="4114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For Metaflow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0116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First systematic mapping of Client API to HTTP calls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743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Extension package pattern for community contributions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474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Foundation for richer programmatic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3093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B68AE"/>
                </a:solidFill>
                <a:latin typeface="Calibri"/>
              </a:rPr>
              <a:t>05</a:t>
            </a:r>
            <a:r>
              <a:rPr sz="1000" b="0">
                <a:solidFill>
                  <a:srgbClr val="9A9A9A"/>
                </a:solidFill>
                <a:latin typeface="Calibri"/>
              </a:rPr>
              <a:t>  GSoC Timeline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D2D2D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6B6B"/>
                </a:solidFill>
                <a:latin typeface="Calibri"/>
              </a:defRPr>
            </a:pPr>
            <a:r>
              <a:t>Claude debugging a Metaflow flow</a:t>
            </a:r>
            <a:br/>
            <a:r>
              <a:t>Side-by-side: naive path vs smart path</a:t>
            </a:r>
            <a:br/>
            <a:r>
              <a:t>Real HTTP calls, real Metaflow UI, real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B68AE"/>
                </a:solidFill>
                <a:latin typeface="Calibri"/>
              </a:defRPr>
            </a:pPr>
            <a:r>
              <a:t>[YouTube video link / screen recording]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C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D2D2D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6B6B"/>
                </a:solidFill>
                <a:latin typeface="Calibri"/>
              </a:defRPr>
            </a:pPr>
            <a:r>
              <a:t>landigf | MSc CS, ETH Zurich | GSoC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6B6B"/>
                </a:solidFill>
                <a:latin typeface="Calibri"/>
              </a:defRPr>
            </a:pPr>
            <a:r>
              <a:t>GSoC 2026 | Mentor: Valay Dave | Outerbounds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754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6B6B6B"/>
                </a:solidFill>
                <a:latin typeface="Calibri"/>
              </a:defRPr>
            </a:pPr>
            <a:r>
              <a:t>Code: github.com/landigf/metaflow-agent-client</a:t>
            </a:r>
          </a:p>
          <a:p>
            <a:pPr>
              <a:spcAft>
                <a:spcPts val="700"/>
              </a:spcAft>
              <a:defRPr sz="1400">
                <a:solidFill>
                  <a:srgbClr val="6B6B6B"/>
                </a:solidFill>
                <a:latin typeface="Calibri"/>
              </a:defRPr>
            </a:pPr>
            <a:r>
              <a:t>Benchmarks: demo/benchmark_three_paths.py</a:t>
            </a:r>
          </a:p>
          <a:p>
            <a:pPr>
              <a:spcAft>
                <a:spcPts val="700"/>
              </a:spcAft>
              <a:defRPr sz="1400">
                <a:solidFill>
                  <a:srgbClr val="6B6B6B"/>
                </a:solidFill>
                <a:latin typeface="Calibri"/>
              </a:defRPr>
            </a:pPr>
            <a:r>
              <a:t>RFC: docs/RFC_agent_friendly_client.md</a:t>
            </a:r>
          </a:p>
          <a:p>
            <a:pPr>
              <a:spcAft>
                <a:spcPts val="700"/>
              </a:spcAft>
              <a:defRPr sz="1400">
                <a:solidFill>
                  <a:srgbClr val="6B6B6B"/>
                </a:solidFill>
                <a:latin typeface="Calibri"/>
              </a:defRPr>
            </a:pPr>
            <a:r>
              <a:t>Full audit: demo/full_audit.py (all 6 use cases)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1954</Words>
  <Application>Microsoft Macintosh PowerPoint</Application>
  <PresentationFormat>Widescreen</PresentationFormat>
  <Paragraphs>297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GENNARO FRANCESCO LANDI</cp:lastModifiedBy>
  <cp:revision>6</cp:revision>
  <dcterms:created xsi:type="dcterms:W3CDTF">2013-01-27T09:14:16Z</dcterms:created>
  <dcterms:modified xsi:type="dcterms:W3CDTF">2026-03-17T20:15:49Z</dcterms:modified>
  <cp:category/>
</cp:coreProperties>
</file>